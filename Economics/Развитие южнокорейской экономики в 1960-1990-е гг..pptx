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Albert Sans"/>
      <p:regular r:id="rId26"/>
      <p:bold r:id="rId27"/>
      <p:italic r:id="rId28"/>
      <p:boldItalic r:id="rId29"/>
    </p:embeddedFont>
    <p:embeddedFont>
      <p:font typeface="PT Sans"/>
      <p:regular r:id="rId30"/>
      <p:bold r:id="rId31"/>
      <p:italic r:id="rId32"/>
      <p:boldItalic r:id="rId33"/>
    </p:embeddedFont>
    <p:embeddedFont>
      <p:font typeface="Archivo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ECBB0B-8805-4C01-B456-45C2BF0668A1}">
  <a:tblStyle styleId="{6FECBB0B-8805-4C01-B456-45C2BF0668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4.xml"/><Relationship Id="rId41" Type="http://schemas.openxmlformats.org/officeDocument/2006/relationships/font" Target="fonts/OpenSans-boldItalic.fntdata"/><Relationship Id="rId22" Type="http://schemas.openxmlformats.org/officeDocument/2006/relationships/font" Target="fonts/Raleway-regular.fntdata"/><Relationship Id="rId21" Type="http://schemas.openxmlformats.org/officeDocument/2006/relationships/slide" Target="slides/slide15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lbertSans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AlbertSans-italic.fntdata"/><Relationship Id="rId27" Type="http://schemas.openxmlformats.org/officeDocument/2006/relationships/font" Target="fonts/Albert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lbert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TSans-bold.fntdata"/><Relationship Id="rId30" Type="http://schemas.openxmlformats.org/officeDocument/2006/relationships/font" Target="fonts/PTSans-regular.fntdata"/><Relationship Id="rId11" Type="http://schemas.openxmlformats.org/officeDocument/2006/relationships/slide" Target="slides/slide5.xml"/><Relationship Id="rId33" Type="http://schemas.openxmlformats.org/officeDocument/2006/relationships/font" Target="fonts/PTSans-boldItalic.fntdata"/><Relationship Id="rId10" Type="http://schemas.openxmlformats.org/officeDocument/2006/relationships/slide" Target="slides/slide4.xml"/><Relationship Id="rId32" Type="http://schemas.openxmlformats.org/officeDocument/2006/relationships/font" Target="fonts/PTSans-italic.fntdata"/><Relationship Id="rId13" Type="http://schemas.openxmlformats.org/officeDocument/2006/relationships/slide" Target="slides/slide7.xml"/><Relationship Id="rId35" Type="http://schemas.openxmlformats.org/officeDocument/2006/relationships/font" Target="fonts/Archivo-bold.fntdata"/><Relationship Id="rId12" Type="http://schemas.openxmlformats.org/officeDocument/2006/relationships/slide" Target="slides/slide6.xml"/><Relationship Id="rId34" Type="http://schemas.openxmlformats.org/officeDocument/2006/relationships/font" Target="fonts/Archivo-regular.fntdata"/><Relationship Id="rId15" Type="http://schemas.openxmlformats.org/officeDocument/2006/relationships/slide" Target="slides/slide9.xml"/><Relationship Id="rId37" Type="http://schemas.openxmlformats.org/officeDocument/2006/relationships/font" Target="fonts/Archivo-boldItalic.fntdata"/><Relationship Id="rId14" Type="http://schemas.openxmlformats.org/officeDocument/2006/relationships/slide" Target="slides/slide8.xml"/><Relationship Id="rId36" Type="http://schemas.openxmlformats.org/officeDocument/2006/relationships/font" Target="fonts/Archivo-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7a62897e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7a62897e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8dfac31a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8dfac31a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8dfac31a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8dfac31a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2aad1514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2aad1514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8dfac31a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8dfac31a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78dfac31ac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78dfac31a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2aad1514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2aad1514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2aad1514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62aad1514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2aad1514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62aad1514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2aad1514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62aad1514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78dfac31ac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78dfac31ac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78dfac31ac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78dfac31ac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2aad1514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62aad1514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58650" y="75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906650"/>
            <a:ext cx="7084800" cy="2066700"/>
          </a:xfrm>
          <a:prstGeom prst="rect">
            <a:avLst/>
          </a:prstGeom>
          <a:solidFill>
            <a:srgbClr val="D6CCC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3225" y="3495675"/>
            <a:ext cx="2721300" cy="732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75"/>
            <a:ext cx="5003100" cy="287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6849750" y="-150"/>
            <a:ext cx="2294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20000" y="1215750"/>
            <a:ext cx="491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3699274" y="2650350"/>
            <a:ext cx="2505600" cy="14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720000" y="2650350"/>
            <a:ext cx="2505600" cy="14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3" type="subTitle"/>
          </p:nvPr>
        </p:nvSpPr>
        <p:spPr>
          <a:xfrm>
            <a:off x="720000" y="2113902"/>
            <a:ext cx="2505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3699275" y="2113902"/>
            <a:ext cx="2505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7319600" y="-150"/>
            <a:ext cx="1824300" cy="35199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5165625" y="2225550"/>
            <a:ext cx="3978300" cy="29178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720000" y="1366450"/>
            <a:ext cx="39783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33" name="Google Shape;33;p7"/>
          <p:cNvSpPr/>
          <p:nvPr>
            <p:ph idx="2" type="pic"/>
          </p:nvPr>
        </p:nvSpPr>
        <p:spPr>
          <a:xfrm>
            <a:off x="5643775" y="1100050"/>
            <a:ext cx="2787000" cy="35040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7088800" y="539500"/>
            <a:ext cx="20553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2217300" y="1838150"/>
            <a:ext cx="6926700" cy="14673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2473500" y="1189100"/>
            <a:ext cx="6670500" cy="1964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473500" y="3153500"/>
            <a:ext cx="36756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" name="Google Shape;41;p9"/>
          <p:cNvSpPr/>
          <p:nvPr/>
        </p:nvSpPr>
        <p:spPr>
          <a:xfrm>
            <a:off x="0" y="100"/>
            <a:ext cx="2055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2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843075" y="75"/>
            <a:ext cx="4301100" cy="357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0" y="1442700"/>
            <a:ext cx="6576000" cy="1628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713225" y="3275225"/>
            <a:ext cx="5862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2" type="title"/>
          </p:nvPr>
        </p:nvSpPr>
        <p:spPr>
          <a:xfrm>
            <a:off x="720000" y="1468682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454700" y="1468672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3" type="title"/>
          </p:nvPr>
        </p:nvSpPr>
        <p:spPr>
          <a:xfrm>
            <a:off x="720000" y="2026804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1454700" y="2026797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5" type="title"/>
          </p:nvPr>
        </p:nvSpPr>
        <p:spPr>
          <a:xfrm>
            <a:off x="720000" y="2584927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1454700" y="2584922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7" type="title"/>
          </p:nvPr>
        </p:nvSpPr>
        <p:spPr>
          <a:xfrm>
            <a:off x="720000" y="3143052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idx="8" type="subTitle"/>
          </p:nvPr>
        </p:nvSpPr>
        <p:spPr>
          <a:xfrm>
            <a:off x="1454700" y="3143047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hasCustomPrompt="1" idx="9" type="title"/>
          </p:nvPr>
        </p:nvSpPr>
        <p:spPr>
          <a:xfrm>
            <a:off x="720000" y="3701177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1454700" y="3701172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hasCustomPrompt="1" idx="14" type="title"/>
          </p:nvPr>
        </p:nvSpPr>
        <p:spPr>
          <a:xfrm>
            <a:off x="720000" y="4259302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idx="15" type="subTitle"/>
          </p:nvPr>
        </p:nvSpPr>
        <p:spPr>
          <a:xfrm>
            <a:off x="1454700" y="4259297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7517425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2691350" y="1591947"/>
            <a:ext cx="4071900" cy="22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-100" y="3606075"/>
            <a:ext cx="9144000" cy="153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7"/>
          <p:cNvSpPr txBox="1"/>
          <p:nvPr>
            <p:ph idx="1" type="subTitle"/>
          </p:nvPr>
        </p:nvSpPr>
        <p:spPr>
          <a:xfrm flipH="1">
            <a:off x="713225" y="1243575"/>
            <a:ext cx="2402100" cy="11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7"/>
          <p:cNvSpPr/>
          <p:nvPr>
            <p:ph idx="2" type="pic"/>
          </p:nvPr>
        </p:nvSpPr>
        <p:spPr>
          <a:xfrm>
            <a:off x="6050850" y="1100050"/>
            <a:ext cx="2379900" cy="35043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7"/>
          <p:cNvSpPr/>
          <p:nvPr>
            <p:ph idx="3" type="pic"/>
          </p:nvPr>
        </p:nvSpPr>
        <p:spPr>
          <a:xfrm>
            <a:off x="4121325" y="1100050"/>
            <a:ext cx="1780500" cy="35043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7"/>
          <p:cNvSpPr/>
          <p:nvPr>
            <p:ph idx="4" type="pic"/>
          </p:nvPr>
        </p:nvSpPr>
        <p:spPr>
          <a:xfrm flipH="1">
            <a:off x="720075" y="2678900"/>
            <a:ext cx="3252300" cy="19251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720000" y="398050"/>
            <a:ext cx="77109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5242425" y="-150"/>
            <a:ext cx="3901500" cy="16404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720000" y="2798600"/>
            <a:ext cx="2236500" cy="18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subTitle"/>
          </p:nvPr>
        </p:nvSpPr>
        <p:spPr>
          <a:xfrm>
            <a:off x="3338423" y="2798600"/>
            <a:ext cx="2236500" cy="18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5956847" y="2798600"/>
            <a:ext cx="2236500" cy="18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720000" y="2103375"/>
            <a:ext cx="22365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3338419" y="2103375"/>
            <a:ext cx="22365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subTitle"/>
          </p:nvPr>
        </p:nvSpPr>
        <p:spPr>
          <a:xfrm>
            <a:off x="5956838" y="2103375"/>
            <a:ext cx="22365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/>
          <p:nvPr/>
        </p:nvSpPr>
        <p:spPr>
          <a:xfrm>
            <a:off x="0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1800525" y="1735625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2" type="subTitle"/>
          </p:nvPr>
        </p:nvSpPr>
        <p:spPr>
          <a:xfrm>
            <a:off x="5314500" y="1735625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3" type="subTitle"/>
          </p:nvPr>
        </p:nvSpPr>
        <p:spPr>
          <a:xfrm>
            <a:off x="1800525" y="3396200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4" type="subTitle"/>
          </p:nvPr>
        </p:nvSpPr>
        <p:spPr>
          <a:xfrm>
            <a:off x="5314500" y="3396200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5" type="subTitle"/>
          </p:nvPr>
        </p:nvSpPr>
        <p:spPr>
          <a:xfrm>
            <a:off x="1800526" y="1285875"/>
            <a:ext cx="3109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6" type="subTitle"/>
          </p:nvPr>
        </p:nvSpPr>
        <p:spPr>
          <a:xfrm>
            <a:off x="1800526" y="2946675"/>
            <a:ext cx="3109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7" type="subTitle"/>
          </p:nvPr>
        </p:nvSpPr>
        <p:spPr>
          <a:xfrm>
            <a:off x="5314475" y="1285875"/>
            <a:ext cx="3109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8" type="subTitle"/>
          </p:nvPr>
        </p:nvSpPr>
        <p:spPr>
          <a:xfrm>
            <a:off x="5314475" y="2946675"/>
            <a:ext cx="3109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6058450" y="-150"/>
            <a:ext cx="3085500" cy="28737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72000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2" type="subTitle"/>
          </p:nvPr>
        </p:nvSpPr>
        <p:spPr>
          <a:xfrm>
            <a:off x="345525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3" type="subTitle"/>
          </p:nvPr>
        </p:nvSpPr>
        <p:spPr>
          <a:xfrm>
            <a:off x="72000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4" type="subTitle"/>
          </p:nvPr>
        </p:nvSpPr>
        <p:spPr>
          <a:xfrm>
            <a:off x="345525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5" type="subTitle"/>
          </p:nvPr>
        </p:nvSpPr>
        <p:spPr>
          <a:xfrm>
            <a:off x="619050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6" type="subTitle"/>
          </p:nvPr>
        </p:nvSpPr>
        <p:spPr>
          <a:xfrm>
            <a:off x="619050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7" type="subTitle"/>
          </p:nvPr>
        </p:nvSpPr>
        <p:spPr>
          <a:xfrm>
            <a:off x="720000" y="1336275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8" type="subTitle"/>
          </p:nvPr>
        </p:nvSpPr>
        <p:spPr>
          <a:xfrm>
            <a:off x="3455250" y="1336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1" name="Google Shape;111;p20"/>
          <p:cNvSpPr txBox="1"/>
          <p:nvPr>
            <p:ph idx="9" type="subTitle"/>
          </p:nvPr>
        </p:nvSpPr>
        <p:spPr>
          <a:xfrm>
            <a:off x="6190500" y="1336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idx="13" type="subTitle"/>
          </p:nvPr>
        </p:nvSpPr>
        <p:spPr>
          <a:xfrm>
            <a:off x="720000" y="3063351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14" type="subTitle"/>
          </p:nvPr>
        </p:nvSpPr>
        <p:spPr>
          <a:xfrm>
            <a:off x="3455250" y="306335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" name="Google Shape;114;p20"/>
          <p:cNvSpPr txBox="1"/>
          <p:nvPr>
            <p:ph idx="15" type="subTitle"/>
          </p:nvPr>
        </p:nvSpPr>
        <p:spPr>
          <a:xfrm>
            <a:off x="6190500" y="306335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bg>
      <p:bgPr>
        <a:solidFill>
          <a:schemeClr val="dk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6182100" y="-150"/>
            <a:ext cx="29622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21"/>
          <p:cNvSpPr txBox="1"/>
          <p:nvPr>
            <p:ph hasCustomPrompt="1" type="title"/>
          </p:nvPr>
        </p:nvSpPr>
        <p:spPr>
          <a:xfrm>
            <a:off x="2077174" y="3316475"/>
            <a:ext cx="7067100" cy="7689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2077174" y="4227800"/>
            <a:ext cx="4095000" cy="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hasCustomPrompt="1" idx="2" type="title"/>
          </p:nvPr>
        </p:nvSpPr>
        <p:spPr>
          <a:xfrm>
            <a:off x="2077174" y="539500"/>
            <a:ext cx="7067100" cy="7689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21"/>
          <p:cNvSpPr txBox="1"/>
          <p:nvPr>
            <p:ph idx="3" type="subTitle"/>
          </p:nvPr>
        </p:nvSpPr>
        <p:spPr>
          <a:xfrm>
            <a:off x="2077174" y="1450800"/>
            <a:ext cx="4095000" cy="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hasCustomPrompt="1" idx="4" type="title"/>
          </p:nvPr>
        </p:nvSpPr>
        <p:spPr>
          <a:xfrm>
            <a:off x="2077174" y="1927988"/>
            <a:ext cx="7067100" cy="7689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1"/>
          <p:cNvSpPr txBox="1"/>
          <p:nvPr>
            <p:ph idx="5" type="subTitle"/>
          </p:nvPr>
        </p:nvSpPr>
        <p:spPr>
          <a:xfrm>
            <a:off x="2077174" y="2839300"/>
            <a:ext cx="4095000" cy="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713225" y="3678562"/>
            <a:ext cx="32577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1000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5209450" y="75"/>
            <a:ext cx="3934500" cy="389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713225" y="2360475"/>
            <a:ext cx="3257700" cy="113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713225" y="863650"/>
            <a:ext cx="8430900" cy="1347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0" y="75"/>
            <a:ext cx="5003100" cy="460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/>
          <p:nvPr/>
        </p:nvSpPr>
        <p:spPr>
          <a:xfrm>
            <a:off x="0" y="915000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ctrTitle"/>
          </p:nvPr>
        </p:nvSpPr>
        <p:spPr>
          <a:xfrm>
            <a:off x="0" y="906650"/>
            <a:ext cx="7084800" cy="206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Развитие южнокорейской экономики в 1960-1990-е гг.</a:t>
            </a:r>
            <a:endParaRPr sz="3600"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713225" y="3187925"/>
            <a:ext cx="4871700" cy="7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Подготовила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Богднанова Анастасия,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студентка 3 курса ОП “Востоковедение”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(группа БВВ225)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</p:spPr>
        <p:txBody>
          <a:bodyPr anchorCtr="0" anchor="ctr" bIns="91425" lIns="91425" spcFirstLastPara="1" rIns="7315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Теоретическая часть</a:t>
            </a:r>
            <a:endParaRPr/>
          </a:p>
        </p:txBody>
      </p:sp>
      <p:sp>
        <p:nvSpPr>
          <p:cNvPr id="144" name="Google Shape;144;p26"/>
          <p:cNvSpPr txBox="1"/>
          <p:nvPr>
            <p:ph idx="2" type="title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Мотивация исследования</a:t>
            </a:r>
            <a:endParaRPr/>
          </a:p>
        </p:txBody>
      </p:sp>
      <p:sp>
        <p:nvSpPr>
          <p:cNvPr id="150" name="Google Shape;150;p27"/>
          <p:cNvSpPr txBox="1"/>
          <p:nvPr>
            <p:ph idx="2" type="subTitle"/>
          </p:nvPr>
        </p:nvSpPr>
        <p:spPr>
          <a:xfrm>
            <a:off x="789425" y="2325600"/>
            <a:ext cx="5839800" cy="12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 sz="1400"/>
              <a:t>Противоречивость расчетов исследователей из разных стран в силу влияния Холодной войны.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AutoNum type="arabicParenR"/>
            </a:pPr>
            <a:r>
              <a:rPr lang="en" sz="1400"/>
              <a:t>Неоднозначные оценки факторов экономического развития Южной Кореи в 1960-1990е гг.</a:t>
            </a:r>
            <a:endParaRPr sz="1400"/>
          </a:p>
        </p:txBody>
      </p:sp>
      <p:sp>
        <p:nvSpPr>
          <p:cNvPr id="151" name="Google Shape;151;p27"/>
          <p:cNvSpPr txBox="1"/>
          <p:nvPr>
            <p:ph idx="3" type="subTitle"/>
          </p:nvPr>
        </p:nvSpPr>
        <p:spPr>
          <a:xfrm>
            <a:off x="1445350" y="1448975"/>
            <a:ext cx="5414700" cy="65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Необходимость исследования экономических показателей в ходе курсовой работы</a:t>
            </a:r>
            <a:endParaRPr/>
          </a:p>
        </p:txBody>
      </p:sp>
      <p:sp>
        <p:nvSpPr>
          <p:cNvPr id="152" name="Google Shape;152;p27"/>
          <p:cNvSpPr/>
          <p:nvPr/>
        </p:nvSpPr>
        <p:spPr>
          <a:xfrm>
            <a:off x="789427" y="1448982"/>
            <a:ext cx="5277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53" name="Google Shape;153;p27"/>
          <p:cNvGrpSpPr/>
          <p:nvPr/>
        </p:nvGrpSpPr>
        <p:grpSpPr>
          <a:xfrm>
            <a:off x="909982" y="1569562"/>
            <a:ext cx="286571" cy="286540"/>
            <a:chOff x="-65145700" y="3727425"/>
            <a:chExt cx="317425" cy="317425"/>
          </a:xfrm>
        </p:grpSpPr>
        <p:sp>
          <p:nvSpPr>
            <p:cNvPr id="154" name="Google Shape;154;p27"/>
            <p:cNvSpPr/>
            <p:nvPr/>
          </p:nvSpPr>
          <p:spPr>
            <a:xfrm>
              <a:off x="-65145700" y="3769150"/>
              <a:ext cx="275675" cy="275700"/>
            </a:xfrm>
            <a:custGeom>
              <a:rect b="b" l="l" r="r" t="t"/>
              <a:pathLst>
                <a:path extrusionOk="0" h="11028" w="11027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-64977150" y="3727425"/>
              <a:ext cx="148875" cy="147300"/>
            </a:xfrm>
            <a:custGeom>
              <a:rect b="b" l="l" r="r" t="t"/>
              <a:pathLst>
                <a:path extrusionOk="0" h="5892" w="5955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27"/>
          <p:cNvSpPr txBox="1"/>
          <p:nvPr>
            <p:ph idx="3" type="subTitle"/>
          </p:nvPr>
        </p:nvSpPr>
        <p:spPr>
          <a:xfrm>
            <a:off x="789425" y="3820225"/>
            <a:ext cx="6070500" cy="65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600"/>
              <a:t>Южнокорейское экономическое чудо – результат правильной политики государства в 1960-1990е гг. или же результат постепенного развития полуострова в течение всего XX в.?</a:t>
            </a:r>
            <a:endParaRPr b="0" i="1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Контекст</a:t>
            </a:r>
            <a:endParaRPr/>
          </a:p>
        </p:txBody>
      </p:sp>
      <p:sp>
        <p:nvSpPr>
          <p:cNvPr id="162" name="Google Shape;162;p28"/>
          <p:cNvSpPr txBox="1"/>
          <p:nvPr>
            <p:ph idx="4" type="subTitle"/>
          </p:nvPr>
        </p:nvSpPr>
        <p:spPr>
          <a:xfrm>
            <a:off x="630175" y="2360250"/>
            <a:ext cx="809700" cy="4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1910</a:t>
            </a:r>
            <a:endParaRPr/>
          </a:p>
        </p:txBody>
      </p:sp>
      <p:sp>
        <p:nvSpPr>
          <p:cNvPr id="163" name="Google Shape;163;p28"/>
          <p:cNvSpPr txBox="1"/>
          <p:nvPr>
            <p:ph idx="5" type="subTitle"/>
          </p:nvPr>
        </p:nvSpPr>
        <p:spPr>
          <a:xfrm>
            <a:off x="2901550" y="2300250"/>
            <a:ext cx="971700" cy="4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1945</a:t>
            </a:r>
            <a:endParaRPr/>
          </a:p>
        </p:txBody>
      </p:sp>
      <p:sp>
        <p:nvSpPr>
          <p:cNvPr id="164" name="Google Shape;164;p28"/>
          <p:cNvSpPr txBox="1"/>
          <p:nvPr>
            <p:ph idx="1" type="subTitle"/>
          </p:nvPr>
        </p:nvSpPr>
        <p:spPr>
          <a:xfrm>
            <a:off x="1122925" y="1762250"/>
            <a:ext cx="2236500" cy="4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Колониальный период</a:t>
            </a:r>
            <a:endParaRPr sz="1400"/>
          </a:p>
        </p:txBody>
      </p:sp>
      <p:sp>
        <p:nvSpPr>
          <p:cNvPr id="165" name="Google Shape;165;p28"/>
          <p:cNvSpPr txBox="1"/>
          <p:nvPr>
            <p:ph idx="2" type="subTitle"/>
          </p:nvPr>
        </p:nvSpPr>
        <p:spPr>
          <a:xfrm>
            <a:off x="4412700" y="1681400"/>
            <a:ext cx="2667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Южнокорейское </a:t>
            </a:r>
            <a:r>
              <a:rPr lang="en" sz="1400"/>
              <a:t>экономическое</a:t>
            </a:r>
            <a:r>
              <a:rPr lang="en" sz="1400"/>
              <a:t> чудо</a:t>
            </a:r>
            <a:endParaRPr sz="1400"/>
          </a:p>
        </p:txBody>
      </p:sp>
      <p:sp>
        <p:nvSpPr>
          <p:cNvPr id="166" name="Google Shape;166;p28"/>
          <p:cNvSpPr txBox="1"/>
          <p:nvPr>
            <p:ph idx="6" type="subTitle"/>
          </p:nvPr>
        </p:nvSpPr>
        <p:spPr>
          <a:xfrm>
            <a:off x="4119600" y="2300250"/>
            <a:ext cx="809700" cy="4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1960</a:t>
            </a:r>
            <a:endParaRPr/>
          </a:p>
        </p:txBody>
      </p:sp>
      <p:cxnSp>
        <p:nvCxnSpPr>
          <p:cNvPr id="167" name="Google Shape;167;p28"/>
          <p:cNvCxnSpPr/>
          <p:nvPr/>
        </p:nvCxnSpPr>
        <p:spPr>
          <a:xfrm flipH="1" rot="10800000">
            <a:off x="694350" y="2202000"/>
            <a:ext cx="7660200" cy="5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28"/>
          <p:cNvSpPr/>
          <p:nvPr/>
        </p:nvSpPr>
        <p:spPr>
          <a:xfrm>
            <a:off x="947125" y="2201950"/>
            <a:ext cx="175800" cy="141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3283475" y="2158638"/>
            <a:ext cx="175800" cy="141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4313825" y="2158650"/>
            <a:ext cx="175800" cy="141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6756650" y="2158650"/>
            <a:ext cx="175800" cy="141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2" name="Google Shape;172;p28"/>
          <p:cNvSpPr txBox="1"/>
          <p:nvPr>
            <p:ph idx="6" type="subTitle"/>
          </p:nvPr>
        </p:nvSpPr>
        <p:spPr>
          <a:xfrm>
            <a:off x="6439700" y="2300250"/>
            <a:ext cx="809700" cy="4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1990</a:t>
            </a:r>
            <a:endParaRPr/>
          </a:p>
        </p:txBody>
      </p:sp>
      <p:graphicFrame>
        <p:nvGraphicFramePr>
          <p:cNvPr id="173" name="Google Shape;173;p28"/>
          <p:cNvGraphicFramePr/>
          <p:nvPr/>
        </p:nvGraphicFramePr>
        <p:xfrm>
          <a:off x="782225" y="308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{6FECBB0B-8805-4C01-B456-45C2BF0668A1}</a:tableStyleId>
              </a:tblPr>
              <a:tblGrid>
                <a:gridCol w="3619500"/>
                <a:gridCol w="36195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Основные подходы</a:t>
                      </a:r>
                      <a:endParaRPr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База южнокорейского экономического чуда – заложенная в колониальный период промышленность</a:t>
                      </a:r>
                      <a:endParaRPr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Южнокорейское чудо никак не связано с колониальным периодом и во многом связано с развитием наукоемких технологий внутри страны</a:t>
                      </a:r>
                      <a:endParaRPr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Гипотезы</a:t>
            </a:r>
            <a:endParaRPr/>
          </a:p>
        </p:txBody>
      </p:sp>
      <p:sp>
        <p:nvSpPr>
          <p:cNvPr id="179" name="Google Shape;179;p29"/>
          <p:cNvSpPr txBox="1"/>
          <p:nvPr>
            <p:ph idx="1" type="subTitle"/>
          </p:nvPr>
        </p:nvSpPr>
        <p:spPr>
          <a:xfrm>
            <a:off x="1800525" y="1735625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Южнокорейское экономическое чудо – это результат экспортно-ориентированной политики президента Пак Чон Хи, нацеленной на привлечение инвестиций и развитие высоких технологий в Южной Корее.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0" name="Google Shape;180;p29"/>
          <p:cNvSpPr txBox="1"/>
          <p:nvPr>
            <p:ph idx="4" type="subTitle"/>
          </p:nvPr>
        </p:nvSpPr>
        <p:spPr>
          <a:xfrm>
            <a:off x="5314500" y="3396200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Южнокорейское экономическое чудо – это естественный этап развития экономики, начавшийся еще в колониальный период.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1" name="Google Shape;181;p29"/>
          <p:cNvSpPr txBox="1"/>
          <p:nvPr>
            <p:ph idx="5" type="subTitle"/>
          </p:nvPr>
        </p:nvSpPr>
        <p:spPr>
          <a:xfrm>
            <a:off x="1800526" y="1285875"/>
            <a:ext cx="3109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№1</a:t>
            </a:r>
            <a:endParaRPr/>
          </a:p>
        </p:txBody>
      </p:sp>
      <p:sp>
        <p:nvSpPr>
          <p:cNvPr id="182" name="Google Shape;182;p29"/>
          <p:cNvSpPr txBox="1"/>
          <p:nvPr>
            <p:ph idx="8" type="subTitle"/>
          </p:nvPr>
        </p:nvSpPr>
        <p:spPr>
          <a:xfrm>
            <a:off x="5314475" y="2946675"/>
            <a:ext cx="3109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№2</a:t>
            </a:r>
            <a:endParaRPr/>
          </a:p>
        </p:txBody>
      </p:sp>
      <p:cxnSp>
        <p:nvCxnSpPr>
          <p:cNvPr id="183" name="Google Shape;183;p29"/>
          <p:cNvCxnSpPr>
            <a:stCxn id="181" idx="1"/>
            <a:endCxn id="180" idx="1"/>
          </p:cNvCxnSpPr>
          <p:nvPr/>
        </p:nvCxnSpPr>
        <p:spPr>
          <a:xfrm>
            <a:off x="1800526" y="1514475"/>
            <a:ext cx="3513900" cy="2485500"/>
          </a:xfrm>
          <a:prstGeom prst="bentConnector3">
            <a:avLst>
              <a:gd fmla="val -677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9"/>
          <p:cNvCxnSpPr>
            <a:stCxn id="180" idx="3"/>
            <a:endCxn id="181" idx="3"/>
          </p:cNvCxnSpPr>
          <p:nvPr/>
        </p:nvCxnSpPr>
        <p:spPr>
          <a:xfrm rot="10800000">
            <a:off x="4910100" y="1514600"/>
            <a:ext cx="3513900" cy="2485500"/>
          </a:xfrm>
          <a:prstGeom prst="bentConnector3">
            <a:avLst>
              <a:gd fmla="val -677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</p:spPr>
        <p:txBody>
          <a:bodyPr anchorCtr="0" anchor="ctr" bIns="91425" lIns="91425" spcFirstLastPara="1" rIns="7315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часть</a:t>
            </a:r>
            <a:endParaRPr/>
          </a:p>
        </p:txBody>
      </p:sp>
      <p:sp>
        <p:nvSpPr>
          <p:cNvPr id="190" name="Google Shape;190;p30"/>
          <p:cNvSpPr txBox="1"/>
          <p:nvPr>
            <p:ph idx="2" type="title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Источники данных</a:t>
            </a:r>
            <a:endParaRPr/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00" y="1558050"/>
            <a:ext cx="2647900" cy="13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600" y="3019750"/>
            <a:ext cx="1619300" cy="16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1"/>
          <p:cNvSpPr txBox="1"/>
          <p:nvPr>
            <p:ph idx="1" type="subTitle"/>
          </p:nvPr>
        </p:nvSpPr>
        <p:spPr>
          <a:xfrm>
            <a:off x="3444900" y="1638775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ВВП, ВВП на душу населения, инфляция, экспорт/импорт, ЗВР, инвестиции, промышленное производство.</a:t>
            </a:r>
            <a:endParaRPr sz="1400"/>
          </a:p>
        </p:txBody>
      </p:sp>
      <p:cxnSp>
        <p:nvCxnSpPr>
          <p:cNvPr id="199" name="Google Shape;199;p31"/>
          <p:cNvCxnSpPr>
            <a:stCxn id="196" idx="3"/>
            <a:endCxn id="198" idx="1"/>
          </p:cNvCxnSpPr>
          <p:nvPr/>
        </p:nvCxnSpPr>
        <p:spPr>
          <a:xfrm>
            <a:off x="3137100" y="2242675"/>
            <a:ext cx="30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31"/>
          <p:cNvSpPr txBox="1"/>
          <p:nvPr>
            <p:ph idx="1" type="subTitle"/>
          </p:nvPr>
        </p:nvSpPr>
        <p:spPr>
          <a:xfrm>
            <a:off x="4641400" y="3225500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Товарный экспорт, производство электроники, доля городского населения, потребление электричества на душу населения, государственные расходы на образование.</a:t>
            </a:r>
            <a:endParaRPr sz="1400"/>
          </a:p>
        </p:txBody>
      </p:sp>
      <p:cxnSp>
        <p:nvCxnSpPr>
          <p:cNvPr id="201" name="Google Shape;201;p31"/>
          <p:cNvCxnSpPr>
            <a:endCxn id="200" idx="1"/>
          </p:cNvCxnSpPr>
          <p:nvPr/>
        </p:nvCxnSpPr>
        <p:spPr>
          <a:xfrm>
            <a:off x="3367900" y="3829400"/>
            <a:ext cx="1273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Используемые методы</a:t>
            </a:r>
            <a:endParaRPr/>
          </a:p>
        </p:txBody>
      </p:sp>
      <p:sp>
        <p:nvSpPr>
          <p:cNvPr id="207" name="Google Shape;207;p32"/>
          <p:cNvSpPr txBox="1"/>
          <p:nvPr>
            <p:ph idx="4294967295" type="title"/>
          </p:nvPr>
        </p:nvSpPr>
        <p:spPr>
          <a:xfrm>
            <a:off x="2656850" y="1377650"/>
            <a:ext cx="3940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Построение матрицы корреляций</a:t>
            </a:r>
            <a:endParaRPr sz="1800"/>
          </a:p>
        </p:txBody>
      </p:sp>
      <p:pic>
        <p:nvPicPr>
          <p:cNvPr id="208" name="Google Shape;2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52" y="1877050"/>
            <a:ext cx="8426499" cy="236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Используемые методы</a:t>
            </a:r>
            <a:endParaRPr/>
          </a:p>
        </p:txBody>
      </p:sp>
      <p:sp>
        <p:nvSpPr>
          <p:cNvPr id="214" name="Google Shape;214;p33"/>
          <p:cNvSpPr txBox="1"/>
          <p:nvPr>
            <p:ph idx="4294967295" type="title"/>
          </p:nvPr>
        </p:nvSpPr>
        <p:spPr>
          <a:xfrm>
            <a:off x="2656850" y="1377650"/>
            <a:ext cx="3940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Построение графиков</a:t>
            </a:r>
            <a:endParaRPr sz="1800"/>
          </a:p>
        </p:txBody>
      </p:sp>
      <p:pic>
        <p:nvPicPr>
          <p:cNvPr id="215" name="Google Shape;2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822850"/>
            <a:ext cx="4063982" cy="301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9475" y="1855087"/>
            <a:ext cx="3973404" cy="29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Используемые методы</a:t>
            </a:r>
            <a:endParaRPr/>
          </a:p>
        </p:txBody>
      </p:sp>
      <p:sp>
        <p:nvSpPr>
          <p:cNvPr id="222" name="Google Shape;222;p34"/>
          <p:cNvSpPr txBox="1"/>
          <p:nvPr>
            <p:ph idx="4294967295" type="title"/>
          </p:nvPr>
        </p:nvSpPr>
        <p:spPr>
          <a:xfrm>
            <a:off x="2656850" y="1377650"/>
            <a:ext cx="39402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Построение моделей</a:t>
            </a:r>
            <a:endParaRPr sz="1800"/>
          </a:p>
        </p:txBody>
      </p:sp>
      <p:sp>
        <p:nvSpPr>
          <p:cNvPr id="223" name="Google Shape;223;p34"/>
          <p:cNvSpPr txBox="1"/>
          <p:nvPr>
            <p:ph idx="4294967295" type="subTitle"/>
          </p:nvPr>
        </p:nvSpPr>
        <p:spPr>
          <a:xfrm>
            <a:off x="720001" y="1822850"/>
            <a:ext cx="3109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№1</a:t>
            </a:r>
            <a:endParaRPr b="1"/>
          </a:p>
        </p:txBody>
      </p:sp>
      <p:sp>
        <p:nvSpPr>
          <p:cNvPr id="224" name="Google Shape;224;p34"/>
          <p:cNvSpPr txBox="1"/>
          <p:nvPr>
            <p:ph idx="4294967295" type="subTitle"/>
          </p:nvPr>
        </p:nvSpPr>
        <p:spPr>
          <a:xfrm>
            <a:off x="720000" y="2100450"/>
            <a:ext cx="3337500" cy="1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Целевая переменная – ВВП для следующего года.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Предикторы: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с</a:t>
            </a:r>
            <a:r>
              <a:rPr lang="en" sz="1400"/>
              <a:t>альдо торгового баланса;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промышленное производство;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п</a:t>
            </a:r>
            <a:r>
              <a:rPr lang="en" sz="1400"/>
              <a:t>роизводство электроники.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Среднеабсолютная ошибка модели – 7.48%.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25" name="Google Shape;225;p34"/>
          <p:cNvSpPr txBox="1"/>
          <p:nvPr>
            <p:ph idx="4294967295" type="subTitle"/>
          </p:nvPr>
        </p:nvSpPr>
        <p:spPr>
          <a:xfrm>
            <a:off x="4971801" y="1822850"/>
            <a:ext cx="3109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№2</a:t>
            </a:r>
            <a:endParaRPr b="1"/>
          </a:p>
        </p:txBody>
      </p:sp>
      <p:sp>
        <p:nvSpPr>
          <p:cNvPr id="226" name="Google Shape;226;p34"/>
          <p:cNvSpPr txBox="1"/>
          <p:nvPr>
            <p:ph idx="4294967295" type="subTitle"/>
          </p:nvPr>
        </p:nvSpPr>
        <p:spPr>
          <a:xfrm>
            <a:off x="4971800" y="2100450"/>
            <a:ext cx="3109500" cy="18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Целевая переменная – ВВП для следующего года.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Предикторы: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сальдо торгового баланса;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промышленное производство;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производство электроники;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потребление электричества на душу населения;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и</a:t>
            </a:r>
            <a:r>
              <a:rPr lang="en" sz="1400"/>
              <a:t>нфляция;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ЗВР.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Среднеабсолютная ошибка модели – 6.72%.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Используемые методы</a:t>
            </a:r>
            <a:endParaRPr/>
          </a:p>
        </p:txBody>
      </p:sp>
      <p:sp>
        <p:nvSpPr>
          <p:cNvPr id="232" name="Google Shape;232;p35"/>
          <p:cNvSpPr txBox="1"/>
          <p:nvPr>
            <p:ph idx="4294967295" type="title"/>
          </p:nvPr>
        </p:nvSpPr>
        <p:spPr>
          <a:xfrm>
            <a:off x="2344050" y="1377650"/>
            <a:ext cx="44559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Интерпретация результатов модели №2</a:t>
            </a:r>
            <a:endParaRPr sz="1800"/>
          </a:p>
        </p:txBody>
      </p:sp>
      <p:sp>
        <p:nvSpPr>
          <p:cNvPr id="233" name="Google Shape;233;p35"/>
          <p:cNvSpPr txBox="1"/>
          <p:nvPr>
            <p:ph idx="4294967295" type="subTitle"/>
          </p:nvPr>
        </p:nvSpPr>
        <p:spPr>
          <a:xfrm>
            <a:off x="720000" y="2100450"/>
            <a:ext cx="3985800" cy="1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Константа: 11.35.</a:t>
            </a:r>
            <a:endParaRPr b="1" sz="1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D9EAD3"/>
                </a:highlight>
              </a:rPr>
              <a:t>Сальдо торгового баланса: 1.75.</a:t>
            </a:r>
            <a:endParaRPr sz="1400">
              <a:highlight>
                <a:srgbClr val="D9EAD3"/>
              </a:highlight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D9EAD3"/>
                </a:highlight>
              </a:rPr>
              <a:t>Промышленное производство: 3.83.</a:t>
            </a:r>
            <a:endParaRPr sz="1400">
              <a:highlight>
                <a:srgbClr val="D9EAD3"/>
              </a:highlight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E6B8AF"/>
                </a:highlight>
              </a:rPr>
              <a:t>Производство электроники: -1.41.</a:t>
            </a:r>
            <a:endParaRPr sz="1400">
              <a:highlight>
                <a:srgbClr val="E6B8AF"/>
              </a:highlight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Потребление электричества: -0.007.</a:t>
            </a:r>
            <a:endParaRPr sz="1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Инфляция: 0.16.</a:t>
            </a:r>
            <a:endParaRPr sz="14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>
                <a:highlight>
                  <a:srgbClr val="E6B8AF"/>
                </a:highlight>
              </a:rPr>
              <a:t>ЗВР: -2.12.</a:t>
            </a:r>
            <a:endParaRPr sz="1400">
              <a:highlight>
                <a:srgbClr val="E6B8AF"/>
              </a:highlight>
            </a:endParaRPr>
          </a:p>
        </p:txBody>
      </p:sp>
      <p:sp>
        <p:nvSpPr>
          <p:cNvPr id="234" name="Google Shape;234;p35"/>
          <p:cNvSpPr txBox="1"/>
          <p:nvPr>
            <p:ph idx="4294967295" type="subTitle"/>
          </p:nvPr>
        </p:nvSpPr>
        <p:spPr>
          <a:xfrm>
            <a:off x="5116150" y="2408175"/>
            <a:ext cx="26670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Экспортно-ориентированная экономика + восстановление промышленного сектора после Корейской войны.</a:t>
            </a:r>
            <a:endParaRPr sz="1400"/>
          </a:p>
        </p:txBody>
      </p:sp>
      <p:cxnSp>
        <p:nvCxnSpPr>
          <p:cNvPr id="235" name="Google Shape;235;p35"/>
          <p:cNvCxnSpPr>
            <a:stCxn id="234" idx="1"/>
          </p:cNvCxnSpPr>
          <p:nvPr/>
        </p:nvCxnSpPr>
        <p:spPr>
          <a:xfrm rot="10800000">
            <a:off x="3914650" y="2696475"/>
            <a:ext cx="1201500" cy="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35"/>
          <p:cNvSpPr txBox="1"/>
          <p:nvPr>
            <p:ph idx="4294967295" type="subTitle"/>
          </p:nvPr>
        </p:nvSpPr>
        <p:spPr>
          <a:xfrm>
            <a:off x="4705800" y="3901400"/>
            <a:ext cx="26670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Становление отрасли + практически отсутствие ЗВР.</a:t>
            </a:r>
            <a:endParaRPr sz="1400"/>
          </a:p>
        </p:txBody>
      </p:sp>
      <p:cxnSp>
        <p:nvCxnSpPr>
          <p:cNvPr id="237" name="Google Shape;237;p35"/>
          <p:cNvCxnSpPr>
            <a:stCxn id="236" idx="1"/>
          </p:cNvCxnSpPr>
          <p:nvPr/>
        </p:nvCxnSpPr>
        <p:spPr>
          <a:xfrm rot="10800000">
            <a:off x="3980400" y="3399800"/>
            <a:ext cx="725400" cy="79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35"/>
          <p:cNvCxnSpPr>
            <a:stCxn id="236" idx="1"/>
          </p:cNvCxnSpPr>
          <p:nvPr/>
        </p:nvCxnSpPr>
        <p:spPr>
          <a:xfrm flipH="1">
            <a:off x="2244000" y="4193900"/>
            <a:ext cx="2461800" cy="15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Используемые методы</a:t>
            </a:r>
            <a:endParaRPr/>
          </a:p>
        </p:txBody>
      </p:sp>
      <p:sp>
        <p:nvSpPr>
          <p:cNvPr id="244" name="Google Shape;244;p36"/>
          <p:cNvSpPr txBox="1"/>
          <p:nvPr>
            <p:ph idx="4294967295" type="title"/>
          </p:nvPr>
        </p:nvSpPr>
        <p:spPr>
          <a:xfrm>
            <a:off x="2344050" y="1377650"/>
            <a:ext cx="4455900" cy="4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Ограничения</a:t>
            </a:r>
            <a:endParaRPr sz="1800"/>
          </a:p>
        </p:txBody>
      </p:sp>
      <p:sp>
        <p:nvSpPr>
          <p:cNvPr id="245" name="Google Shape;245;p36"/>
          <p:cNvSpPr txBox="1"/>
          <p:nvPr>
            <p:ph idx="4294967295" type="subTitle"/>
          </p:nvPr>
        </p:nvSpPr>
        <p:spPr>
          <a:xfrm>
            <a:off x="720000" y="1949150"/>
            <a:ext cx="7704000" cy="25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 sz="1400"/>
              <a:t>Небольшой набор данных (30 строк).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arenR"/>
            </a:pPr>
            <a:r>
              <a:rPr lang="en" sz="1400"/>
              <a:t>Период активного экономического развития, из-за чего часть показателей может казаться выбросами (ВВП за 1960 – 3 млрд долл. США, за 1990 г. – 283 млрд долл. США).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arenR"/>
            </a:pPr>
            <a:r>
              <a:rPr lang="en" sz="1400"/>
              <a:t>Малый охват секторов экономики.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arenR"/>
            </a:pPr>
            <a:r>
              <a:rPr lang="en" sz="1400"/>
              <a:t>Отсутствие статистики о диверсификации промышленного производства.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AutoNum type="arabicParenR"/>
            </a:pPr>
            <a:r>
              <a:rPr lang="en" sz="1400"/>
              <a:t>Почти не затронута социальная сфера (только потребление электричества, переселение в города и госрасходы на образование).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>
            <p:ph type="title"/>
          </p:nvPr>
        </p:nvSpPr>
        <p:spPr>
          <a:xfrm>
            <a:off x="0" y="1442700"/>
            <a:ext cx="6576000" cy="1628400"/>
          </a:xfrm>
          <a:prstGeom prst="rect">
            <a:avLst/>
          </a:prstGeom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Выводы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idx="1" type="body"/>
          </p:nvPr>
        </p:nvSpPr>
        <p:spPr>
          <a:xfrm>
            <a:off x="720000" y="1215750"/>
            <a:ext cx="614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5900" lvl="0" marL="241300" rtl="0" algn="l">
              <a:spcBef>
                <a:spcPts val="300"/>
              </a:spcBef>
              <a:spcAft>
                <a:spcPts val="0"/>
              </a:spcAft>
              <a:buSzPts val="1400"/>
              <a:buFont typeface="Archivo Light"/>
              <a:buChar char="■"/>
            </a:pPr>
            <a:r>
              <a:rPr lang="en" sz="1400">
                <a:solidFill>
                  <a:srgbClr val="000000"/>
                </a:solidFill>
              </a:rPr>
              <a:t>В развитие экономики РК в 1960-1990 гг. самый значительный вклад внесло промышленное производство, которое способствовало росту ВВП на 3.83 млрд долл. США. </a:t>
            </a:r>
            <a:endParaRPr sz="1400">
              <a:solidFill>
                <a:srgbClr val="000000"/>
              </a:solidFill>
            </a:endParaRPr>
          </a:p>
          <a:p>
            <a:pPr indent="-215900" lvl="0" marL="24130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"/>
              <a:buChar char="■"/>
            </a:pPr>
            <a:r>
              <a:rPr lang="en" sz="1400">
                <a:solidFill>
                  <a:srgbClr val="000000"/>
                </a:solidFill>
              </a:rPr>
              <a:t>Гипотеза о значимости сферы электроники оказалась полностью опровергнутой, так как из модели №3 становится очевидным тот факт, что в 1960-1990-е гг. эта отрасль только развивалась и не достигла своей точки окупаемости.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rgbClr val="000000"/>
                </a:solidFill>
              </a:rPr>
              <a:t>Применение</a:t>
            </a:r>
            <a:r>
              <a:rPr lang="en" sz="1400" u="sng">
                <a:solidFill>
                  <a:srgbClr val="000000"/>
                </a:solidFill>
              </a:rPr>
              <a:t>:</a:t>
            </a:r>
            <a:endParaRPr sz="1400" u="sng">
              <a:solidFill>
                <a:srgbClr val="000000"/>
              </a:solidFill>
            </a:endParaRPr>
          </a:p>
          <a:p>
            <a:pPr indent="-215900" lvl="0" marL="24130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"/>
              <a:buChar char="■"/>
            </a:pPr>
            <a:r>
              <a:rPr lang="en" sz="1400">
                <a:solidFill>
                  <a:srgbClr val="000000"/>
                </a:solidFill>
              </a:rPr>
              <a:t>исследования экономики Республика Корея;</a:t>
            </a:r>
            <a:endParaRPr sz="1400">
              <a:solidFill>
                <a:srgbClr val="000000"/>
              </a:solidFill>
            </a:endParaRPr>
          </a:p>
          <a:p>
            <a:pPr indent="-215900" lvl="0" marL="24130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 sz="1400">
                <a:solidFill>
                  <a:srgbClr val="000000"/>
                </a:solidFill>
              </a:rPr>
              <a:t>п</a:t>
            </a:r>
            <a:r>
              <a:rPr lang="en" sz="1400">
                <a:solidFill>
                  <a:srgbClr val="000000"/>
                </a:solidFill>
              </a:rPr>
              <a:t>рименение и адаптация опыта Южной Кореи.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56" name="Google Shape;256;p38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Выводы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0" y="1442700"/>
            <a:ext cx="6576000" cy="16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Спасибо за внимание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cial Market Economy Proposal by Slidesgo">
  <a:themeElements>
    <a:clrScheme name="Simple Light">
      <a:dk1>
        <a:srgbClr val="191919"/>
      </a:dk1>
      <a:lt1>
        <a:srgbClr val="FFFFFF"/>
      </a:lt1>
      <a:dk2>
        <a:srgbClr val="EDEDE9"/>
      </a:dk2>
      <a:lt2>
        <a:srgbClr val="D6CC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